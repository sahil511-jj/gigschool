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2286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57200"/>
            <a:ext cx="10515600" cy="914400"/>
          </a:xfrm>
          <a:prstGeom prst="rect">
            <a:avLst/>
          </a:prstGeom>
          <a:noFill/>
        </p:spPr>
        <p:txBody>
          <a:bodyPr wrap="none">
            <a:spAutoFit/>
          </a:bodyPr>
          <a:lstStyle/>
          <a:p>
            <a:pPr>
              <a:defRPr sz="4400" b="1">
                <a:solidFill>
                  <a:srgbClr val="FFFFFF"/>
                </a:solidFill>
              </a:defRPr>
            </a:pPr>
            <a:r>
              <a:t>Team COVENANTE</a:t>
            </a:r>
          </a:p>
        </p:txBody>
      </p:sp>
      <p:sp>
        <p:nvSpPr>
          <p:cNvPr id="4" name="TextBox 3"/>
          <p:cNvSpPr txBox="1"/>
          <p:nvPr/>
        </p:nvSpPr>
        <p:spPr>
          <a:xfrm>
            <a:off x="731520" y="1371600"/>
            <a:ext cx="10515600" cy="548640"/>
          </a:xfrm>
          <a:prstGeom prst="rect">
            <a:avLst/>
          </a:prstGeom>
          <a:noFill/>
        </p:spPr>
        <p:txBody>
          <a:bodyPr wrap="none">
            <a:spAutoFit/>
          </a:bodyPr>
          <a:lstStyle/>
          <a:p>
            <a:pPr>
              <a:defRPr sz="2000">
                <a:solidFill>
                  <a:srgbClr val="FFFFFF"/>
                </a:solidFill>
              </a:defRPr>
            </a:pPr>
            <a:r>
              <a:t>Google Developer Group On Campus — Hackathon</a:t>
            </a:r>
          </a:p>
        </p:txBody>
      </p:sp>
      <p:sp>
        <p:nvSpPr>
          <p:cNvPr id="5" name="TextBox 4"/>
          <p:cNvSpPr txBox="1"/>
          <p:nvPr/>
        </p:nvSpPr>
        <p:spPr>
          <a:xfrm>
            <a:off x="1097280" y="2926080"/>
            <a:ext cx="9144000" cy="457200"/>
          </a:xfrm>
          <a:prstGeom prst="rect">
            <a:avLst/>
          </a:prstGeom>
          <a:noFill/>
        </p:spPr>
        <p:txBody>
          <a:bodyPr wrap="square">
            <a:spAutoFit/>
          </a:bodyPr>
          <a:lstStyle/>
          <a:p>
            <a:r>
              <a:rPr sz="1800" b="1">
                <a:solidFill>
                  <a:srgbClr val="F97316"/>
                </a:solidFill>
              </a:rPr>
              <a:t>Team Leader:  </a:t>
            </a:r>
            <a:r>
              <a:rPr sz="1800">
                <a:solidFill>
                  <a:srgbClr val="1F2A37"/>
                </a:solidFill>
              </a:rPr>
              <a:t>Sahil Lamture</a:t>
            </a:r>
          </a:p>
        </p:txBody>
      </p:sp>
      <p:sp>
        <p:nvSpPr>
          <p:cNvPr id="6" name="TextBox 5"/>
          <p:cNvSpPr txBox="1"/>
          <p:nvPr/>
        </p:nvSpPr>
        <p:spPr>
          <a:xfrm>
            <a:off x="1097280" y="3429000"/>
            <a:ext cx="9144000" cy="457200"/>
          </a:xfrm>
          <a:prstGeom prst="rect">
            <a:avLst/>
          </a:prstGeom>
          <a:noFill/>
        </p:spPr>
        <p:txBody>
          <a:bodyPr wrap="square">
            <a:spAutoFit/>
          </a:bodyPr>
          <a:lstStyle/>
          <a:p>
            <a:r>
              <a:rPr sz="1800" b="1">
                <a:solidFill>
                  <a:srgbClr val="F97316"/>
                </a:solidFill>
              </a:rPr>
              <a:t>DevOps:  </a:t>
            </a:r>
            <a:r>
              <a:rPr sz="1800">
                <a:solidFill>
                  <a:srgbClr val="1F2A37"/>
                </a:solidFill>
              </a:rPr>
              <a:t>Yash Andhle</a:t>
            </a:r>
          </a:p>
        </p:txBody>
      </p:sp>
      <p:sp>
        <p:nvSpPr>
          <p:cNvPr id="7" name="TextBox 6"/>
          <p:cNvSpPr txBox="1"/>
          <p:nvPr/>
        </p:nvSpPr>
        <p:spPr>
          <a:xfrm>
            <a:off x="1097280" y="3931920"/>
            <a:ext cx="9144000" cy="457200"/>
          </a:xfrm>
          <a:prstGeom prst="rect">
            <a:avLst/>
          </a:prstGeom>
          <a:noFill/>
        </p:spPr>
        <p:txBody>
          <a:bodyPr wrap="square">
            <a:spAutoFit/>
          </a:bodyPr>
          <a:lstStyle/>
          <a:p>
            <a:r>
              <a:rPr sz="1800" b="1">
                <a:solidFill>
                  <a:srgbClr val="F97316"/>
                </a:solidFill>
              </a:rPr>
              <a:t>Frontend &amp; UI:  </a:t>
            </a:r>
            <a:r>
              <a:rPr sz="1800">
                <a:solidFill>
                  <a:srgbClr val="1F2A37"/>
                </a:solidFill>
              </a:rPr>
              <a:t>Supriya Choubay</a:t>
            </a:r>
          </a:p>
        </p:txBody>
      </p:sp>
      <p:sp>
        <p:nvSpPr>
          <p:cNvPr id="8" name="TextBox 7"/>
          <p:cNvSpPr txBox="1"/>
          <p:nvPr/>
        </p:nvSpPr>
        <p:spPr>
          <a:xfrm>
            <a:off x="1097280" y="4434840"/>
            <a:ext cx="9144000" cy="457200"/>
          </a:xfrm>
          <a:prstGeom prst="rect">
            <a:avLst/>
          </a:prstGeom>
          <a:noFill/>
        </p:spPr>
        <p:txBody>
          <a:bodyPr wrap="square">
            <a:spAutoFit/>
          </a:bodyPr>
          <a:lstStyle/>
          <a:p>
            <a:r>
              <a:rPr sz="1800" b="1">
                <a:solidFill>
                  <a:srgbClr val="F97316"/>
                </a:solidFill>
              </a:rPr>
              <a:t>Database Engineer:  </a:t>
            </a:r>
            <a:r>
              <a:rPr sz="1800">
                <a:solidFill>
                  <a:srgbClr val="1F2A37"/>
                </a:solidFill>
              </a:rPr>
              <a:t>Shivtej Mahatme</a:t>
            </a:r>
          </a:p>
        </p:txBody>
      </p:sp>
      <p:sp>
        <p:nvSpPr>
          <p:cNvPr id="9" name="TextBox 8"/>
          <p:cNvSpPr txBox="1"/>
          <p:nvPr/>
        </p:nvSpPr>
        <p:spPr>
          <a:xfrm>
            <a:off x="1097280" y="4937760"/>
            <a:ext cx="9144000" cy="457200"/>
          </a:xfrm>
          <a:prstGeom prst="rect">
            <a:avLst/>
          </a:prstGeom>
          <a:noFill/>
        </p:spPr>
        <p:txBody>
          <a:bodyPr wrap="square">
            <a:spAutoFit/>
          </a:bodyPr>
          <a:lstStyle/>
          <a:p>
            <a:r>
              <a:rPr sz="1800" b="1">
                <a:solidFill>
                  <a:srgbClr val="F97316"/>
                </a:solidFill>
              </a:rPr>
              <a:t>Problem Statement:  </a:t>
            </a:r>
            <a:r>
              <a:rPr sz="1800">
                <a:solidFill>
                  <a:srgbClr val="1F2A37"/>
                </a:solidFill>
              </a:rPr>
              <a:t>Open Innovation</a:t>
            </a:r>
          </a:p>
        </p:txBody>
      </p:sp>
      <p:sp>
        <p:nvSpPr>
          <p:cNvPr id="10" name="Rectangle 9"/>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Brief About Your Solution and Problem Statement</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365760"/>
          </a:xfrm>
          <a:prstGeom prst="rect">
            <a:avLst/>
          </a:prstGeom>
          <a:noFill/>
        </p:spPr>
        <p:txBody>
          <a:bodyPr wrap="none">
            <a:spAutoFit/>
          </a:bodyPr>
          <a:lstStyle/>
          <a:p>
            <a:pPr>
              <a:defRPr sz="2200" b="1">
                <a:solidFill>
                  <a:srgbClr val="EA580C"/>
                </a:solidFill>
              </a:defRPr>
            </a:pPr>
            <a:r>
              <a:t>The Problem</a:t>
            </a:r>
          </a:p>
        </p:txBody>
      </p:sp>
      <p:sp>
        <p:nvSpPr>
          <p:cNvPr id="5" name="TextBox 4"/>
          <p:cNvSpPr txBox="1"/>
          <p:nvPr/>
        </p:nvSpPr>
        <p:spPr>
          <a:xfrm>
            <a:off x="731520" y="2103120"/>
            <a:ext cx="10515600" cy="1828800"/>
          </a:xfrm>
          <a:prstGeom prst="rect">
            <a:avLst/>
          </a:prstGeom>
          <a:noFill/>
        </p:spPr>
        <p:txBody>
          <a:bodyPr wrap="square">
            <a:spAutoFit/>
          </a:bodyPr>
          <a:lstStyle/>
          <a:p>
            <a:pPr>
              <a:lnSpc>
                <a:spcPts val="2200"/>
              </a:lnSpc>
              <a:spcAft>
                <a:spcPts val="1200"/>
              </a:spcAft>
              <a:defRPr sz="1500">
                <a:solidFill>
                  <a:srgbClr val="1F2A37"/>
                </a:solidFill>
              </a:defRPr>
            </a:pPr>
            <a:r>
              <a:t>A significant number of college students possess valuable skills — from graphic design and web development to video editing and tutoring — yet have no structured platform to offer these skills within their own campus. Existing freelancing platforms like Fiverr and Upwork are designed for seasoned professionals, leaving students unable to compete, gain experience, or earn. As a result, students graduate with theoretical knowledge but little to no real-world work experience. Within colleges, opportunities are shared through informal WhatsApp groups where requests get lost, there is no accountability, and no way to verify quality or build a credible portfolio.</a:t>
            </a:r>
          </a:p>
        </p:txBody>
      </p:sp>
      <p:sp>
        <p:nvSpPr>
          <p:cNvPr id="6" name="TextBox 5"/>
          <p:cNvSpPr txBox="1"/>
          <p:nvPr/>
        </p:nvSpPr>
        <p:spPr>
          <a:xfrm>
            <a:off x="731520" y="3931920"/>
            <a:ext cx="10515600" cy="365760"/>
          </a:xfrm>
          <a:prstGeom prst="rect">
            <a:avLst/>
          </a:prstGeom>
          <a:noFill/>
        </p:spPr>
        <p:txBody>
          <a:bodyPr wrap="none">
            <a:spAutoFit/>
          </a:bodyPr>
          <a:lstStyle/>
          <a:p>
            <a:pPr>
              <a:defRPr sz="2200" b="1">
                <a:solidFill>
                  <a:srgbClr val="EA580C"/>
                </a:solidFill>
              </a:defRPr>
            </a:pPr>
            <a:r>
              <a:t>Our Solution — GigSchool</a:t>
            </a:r>
          </a:p>
        </p:txBody>
      </p:sp>
      <p:sp>
        <p:nvSpPr>
          <p:cNvPr id="7" name="TextBox 6"/>
          <p:cNvSpPr txBox="1"/>
          <p:nvPr/>
        </p:nvSpPr>
        <p:spPr>
          <a:xfrm>
            <a:off x="731520" y="4480560"/>
            <a:ext cx="10515600" cy="1371600"/>
          </a:xfrm>
          <a:prstGeom prst="rect">
            <a:avLst/>
          </a:prstGeom>
          <a:noFill/>
        </p:spPr>
        <p:txBody>
          <a:bodyPr wrap="square">
            <a:spAutoFit/>
          </a:bodyPr>
          <a:lstStyle/>
          <a:p>
            <a:pPr>
              <a:lnSpc>
                <a:spcPts val="2200"/>
              </a:lnSpc>
              <a:defRPr sz="1500">
                <a:solidFill>
                  <a:srgbClr val="1F2A37"/>
                </a:solidFill>
              </a:defRPr>
            </a:pPr>
            <a:r>
              <a:t>GigSchool is a campus-exclusive micro-freelancing platform that transforms a college into a self-sustaining skill economy. Students can post gigs, apply for tasks, build verified portfolios, and earn peer reviews — all within a trusted community of their own classmates. By enabling students to earn while they learn and graduate with real, verifiable work experience, GigSchool bridges the gap between academic learning and professional readiness.</a:t>
            </a:r>
          </a:p>
        </p:txBody>
      </p:sp>
      <p:sp>
        <p:nvSpPr>
          <p:cNvPr id="8" name="Rectangle 7"/>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Opportunities</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365760"/>
          </a:xfrm>
          <a:prstGeom prst="rect">
            <a:avLst/>
          </a:prstGeom>
          <a:noFill/>
        </p:spPr>
        <p:txBody>
          <a:bodyPr wrap="none">
            <a:spAutoFit/>
          </a:bodyPr>
          <a:lstStyle/>
          <a:p>
            <a:pPr>
              <a:defRPr sz="2000" b="1">
                <a:solidFill>
                  <a:srgbClr val="EA580C"/>
                </a:solidFill>
              </a:defRPr>
            </a:pPr>
            <a:r>
              <a:t>a. How is it different from existing ideas?</a:t>
            </a:r>
          </a:p>
        </p:txBody>
      </p:sp>
      <p:sp>
        <p:nvSpPr>
          <p:cNvPr id="5" name="TextBox 4"/>
          <p:cNvSpPr txBox="1"/>
          <p:nvPr/>
        </p:nvSpPr>
        <p:spPr>
          <a:xfrm>
            <a:off x="731520" y="2103120"/>
            <a:ext cx="10515600" cy="1828800"/>
          </a:xfrm>
          <a:prstGeom prst="rect">
            <a:avLst/>
          </a:prstGeom>
          <a:noFill/>
        </p:spPr>
        <p:txBody>
          <a:bodyPr wrap="square">
            <a:spAutoFit/>
          </a:bodyPr>
          <a:lstStyle/>
          <a:p>
            <a:pPr>
              <a:lnSpc>
                <a:spcPts val="2100"/>
              </a:lnSpc>
              <a:defRPr sz="1400">
                <a:solidFill>
                  <a:srgbClr val="1F2A37"/>
                </a:solidFill>
              </a:defRPr>
            </a:pPr>
            <a:r>
              <a:t>Unlike mainstream freelancing platforms such as Fiverr, Upwork, or Freelancer, GigSchool is built exclusively for college communities. It is not competing in the open market — it creates a closed, trust-based ecosystem where every user is a verified student. There is no intimidation of competing with experienced professionals, no high commission fees, and no anonymity. Students deal with classmates they can meet in person, making accountability natural. Additionally, GigSchool integrates AI-powered features — from auto-generating gig descriptions to AI-assisted pitch writing and smart review generation — making it effortless for students who have never freelanced before to get started.</a:t>
            </a:r>
          </a:p>
        </p:txBody>
      </p:sp>
      <p:sp>
        <p:nvSpPr>
          <p:cNvPr id="6" name="TextBox 5"/>
          <p:cNvSpPr txBox="1"/>
          <p:nvPr/>
        </p:nvSpPr>
        <p:spPr>
          <a:xfrm>
            <a:off x="731520" y="3931920"/>
            <a:ext cx="10515600" cy="365760"/>
          </a:xfrm>
          <a:prstGeom prst="rect">
            <a:avLst/>
          </a:prstGeom>
          <a:noFill/>
        </p:spPr>
        <p:txBody>
          <a:bodyPr wrap="none">
            <a:spAutoFit/>
          </a:bodyPr>
          <a:lstStyle/>
          <a:p>
            <a:pPr>
              <a:defRPr sz="2000" b="1">
                <a:solidFill>
                  <a:srgbClr val="EA580C"/>
                </a:solidFill>
              </a:defRPr>
            </a:pPr>
            <a:r>
              <a:t>b. How will it solve the problem?</a:t>
            </a:r>
          </a:p>
        </p:txBody>
      </p:sp>
      <p:sp>
        <p:nvSpPr>
          <p:cNvPr id="7" name="TextBox 6"/>
          <p:cNvSpPr txBox="1"/>
          <p:nvPr/>
        </p:nvSpPr>
        <p:spPr>
          <a:xfrm>
            <a:off x="731520" y="4480560"/>
            <a:ext cx="10515600" cy="1371600"/>
          </a:xfrm>
          <a:prstGeom prst="rect">
            <a:avLst/>
          </a:prstGeom>
          <a:noFill/>
        </p:spPr>
        <p:txBody>
          <a:bodyPr wrap="square">
            <a:spAutoFit/>
          </a:bodyPr>
          <a:lstStyle/>
          <a:p>
            <a:pPr>
              <a:lnSpc>
                <a:spcPts val="2100"/>
              </a:lnSpc>
              <a:defRPr sz="1400">
                <a:solidFill>
                  <a:srgbClr val="1F2A37"/>
                </a:solidFill>
              </a:defRPr>
            </a:pPr>
            <a:r>
              <a:t>GigSchool gives every student a platform to monetize their skills from day one of college. A design student can take on logo projects, a CS student can build websites, a commerce student can offer accounting help — all within campus. The built-in portfolio system, peer reviews, and verified work history create a professional profile that students carry beyond graduation. By the time they enter the job market, they already have real client work, testimonials, and proof of skills — something no classroom project can replace.</a:t>
            </a:r>
          </a:p>
        </p:txBody>
      </p:sp>
      <p:sp>
        <p:nvSpPr>
          <p:cNvPr id="8" name="Rectangle 7"/>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List of Features Offered by the Solution</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365760"/>
          </a:xfrm>
          <a:prstGeom prst="rect">
            <a:avLst/>
          </a:prstGeom>
          <a:noFill/>
        </p:spPr>
        <p:txBody>
          <a:bodyPr wrap="none">
            <a:spAutoFit/>
          </a:bodyPr>
          <a:lstStyle/>
          <a:p>
            <a:pPr>
              <a:defRPr sz="2000" b="1">
                <a:solidFill>
                  <a:srgbClr val="EA580C"/>
                </a:solidFill>
              </a:defRPr>
            </a:pPr>
            <a:r>
              <a:t>🔥 Standout Features</a:t>
            </a:r>
          </a:p>
        </p:txBody>
      </p:sp>
      <p:sp>
        <p:nvSpPr>
          <p:cNvPr id="5" name="TextBox 4"/>
          <p:cNvSpPr txBox="1"/>
          <p:nvPr/>
        </p:nvSpPr>
        <p:spPr>
          <a:xfrm>
            <a:off x="731520" y="2103120"/>
            <a:ext cx="10515600" cy="2286000"/>
          </a:xfrm>
          <a:prstGeom prst="rect">
            <a:avLst/>
          </a:prstGeom>
          <a:noFill/>
        </p:spPr>
        <p:txBody>
          <a:bodyPr wrap="square">
            <a:spAutoFit/>
          </a:bodyPr>
          <a:lstStyle/>
          <a:p/>
          <a:p>
            <a:pPr>
              <a:spcAft>
                <a:spcPts val="600"/>
              </a:spcAft>
              <a:defRPr sz="1400" b="0">
                <a:solidFill>
                  <a:srgbClr val="1F2A37"/>
                </a:solidFill>
              </a:defRPr>
            </a:pPr>
            <a:r>
              <a:t>AI Gig Creator — Students describe what they need in plain English, and AI auto-generates a complete, professional gig listing</a:t>
            </a:r>
          </a:p>
          <a:p>
            <a:pPr>
              <a:spcAft>
                <a:spcPts val="600"/>
              </a:spcAft>
              <a:defRPr sz="1400" b="0">
                <a:solidFill>
                  <a:srgbClr val="1F2A37"/>
                </a:solidFill>
              </a:defRPr>
            </a:pPr>
            <a:r>
              <a:t>AI Pitch Writer — Generates tailored application pitches so students can apply confidently, even with zero freelancing experience</a:t>
            </a:r>
          </a:p>
          <a:p>
            <a:pPr>
              <a:spcAft>
                <a:spcPts val="600"/>
              </a:spcAft>
              <a:defRPr sz="1400" b="0">
                <a:solidFill>
                  <a:srgbClr val="1F2A37"/>
                </a:solidFill>
              </a:defRPr>
            </a:pPr>
            <a:r>
              <a:t>AI Review Assistant — Helps students write thoughtful, constructive reviews after gig completion</a:t>
            </a:r>
          </a:p>
          <a:p>
            <a:pPr>
              <a:spcAft>
                <a:spcPts val="600"/>
              </a:spcAft>
              <a:defRPr sz="1400" b="0">
                <a:solidFill>
                  <a:srgbClr val="1F2A37"/>
                </a:solidFill>
              </a:defRPr>
            </a:pPr>
            <a:r>
              <a:t>College-Only Access — Restricted to verified college emails, creating a safe, trusted, closed community</a:t>
            </a:r>
          </a:p>
        </p:txBody>
      </p:sp>
      <p:sp>
        <p:nvSpPr>
          <p:cNvPr id="6" name="TextBox 5"/>
          <p:cNvSpPr txBox="1"/>
          <p:nvPr/>
        </p:nvSpPr>
        <p:spPr>
          <a:xfrm>
            <a:off x="731520" y="4114800"/>
            <a:ext cx="10515600" cy="365760"/>
          </a:xfrm>
          <a:prstGeom prst="rect">
            <a:avLst/>
          </a:prstGeom>
          <a:noFill/>
        </p:spPr>
        <p:txBody>
          <a:bodyPr wrap="none">
            <a:spAutoFit/>
          </a:bodyPr>
          <a:lstStyle/>
          <a:p>
            <a:pPr>
              <a:defRPr sz="2000" b="1">
                <a:solidFill>
                  <a:srgbClr val="EA580C"/>
                </a:solidFill>
              </a:defRPr>
            </a:pPr>
            <a:r>
              <a:t>Core Platform</a:t>
            </a:r>
          </a:p>
        </p:txBody>
      </p:sp>
      <p:sp>
        <p:nvSpPr>
          <p:cNvPr id="7" name="TextBox 6"/>
          <p:cNvSpPr txBox="1"/>
          <p:nvPr/>
        </p:nvSpPr>
        <p:spPr>
          <a:xfrm>
            <a:off x="731520" y="4663440"/>
            <a:ext cx="10515600" cy="1828800"/>
          </a:xfrm>
          <a:prstGeom prst="rect">
            <a:avLst/>
          </a:prstGeom>
          <a:noFill/>
        </p:spPr>
        <p:txBody>
          <a:bodyPr wrap="square">
            <a:spAutoFit/>
          </a:bodyPr>
          <a:lstStyle/>
          <a:p/>
          <a:p>
            <a:pPr>
              <a:spcAft>
                <a:spcPts val="600"/>
              </a:spcAft>
              <a:defRPr sz="1400" b="0">
                <a:solidFill>
                  <a:srgbClr val="1F2A37"/>
                </a:solidFill>
              </a:defRPr>
            </a:pPr>
            <a:r>
              <a:t>Gig Marketplace — Post, browse, and apply for campus gigs across categories like design, coding, tutoring, and content writing</a:t>
            </a:r>
          </a:p>
          <a:p>
            <a:pPr>
              <a:spcAft>
                <a:spcPts val="600"/>
              </a:spcAft>
              <a:defRPr sz="1400" b="0">
                <a:solidFill>
                  <a:srgbClr val="1F2A37"/>
                </a:solidFill>
              </a:defRPr>
            </a:pPr>
            <a:r>
              <a:t>Smart Application System — Apply with pitches, track real-time status, and receive instant notifications</a:t>
            </a:r>
          </a:p>
          <a:p>
            <a:pPr>
              <a:spcAft>
                <a:spcPts val="600"/>
              </a:spcAft>
              <a:defRPr sz="1400" b="0">
                <a:solidFill>
                  <a:srgbClr val="1F2A37"/>
                </a:solidFill>
              </a:defRPr>
            </a:pPr>
            <a:r>
              <a:t>Portfolio Builder — Upload and showcase work directly on your profile to build credibility</a:t>
            </a:r>
          </a:p>
          <a:p>
            <a:pPr>
              <a:spcAft>
                <a:spcPts val="600"/>
              </a:spcAft>
              <a:defRPr sz="1400" b="0">
                <a:solidFill>
                  <a:srgbClr val="1F2A37"/>
                </a:solidFill>
              </a:defRPr>
            </a:pPr>
            <a:r>
              <a:t>Reviews &amp; Ratings — Peer-reviewed reputation system that builds a verifiable track record</a:t>
            </a:r>
          </a:p>
          <a:p>
            <a:pPr>
              <a:spcAft>
                <a:spcPts val="600"/>
              </a:spcAft>
              <a:defRPr sz="1400" b="0">
                <a:solidFill>
                  <a:srgbClr val="1F2A37"/>
                </a:solidFill>
              </a:defRPr>
            </a:pPr>
            <a:r>
              <a:t>Bookmarking — Save gigs of interest for quick access later</a:t>
            </a:r>
          </a:p>
        </p:txBody>
      </p:sp>
      <p:sp>
        <p:nvSpPr>
          <p:cNvPr id="8" name="Rectangle 7"/>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Google Technologies Used in the Solution</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828800"/>
            <a:ext cx="10515600" cy="457200"/>
          </a:xfrm>
          <a:prstGeom prst="rect">
            <a:avLst/>
          </a:prstGeom>
          <a:noFill/>
        </p:spPr>
        <p:txBody>
          <a:bodyPr wrap="none">
            <a:spAutoFit/>
          </a:bodyPr>
          <a:lstStyle/>
          <a:p>
            <a:pPr>
              <a:defRPr sz="2800" b="1">
                <a:solidFill>
                  <a:srgbClr val="EA580C"/>
                </a:solidFill>
              </a:defRPr>
            </a:pPr>
            <a:r>
              <a:t>Google Gemini AI</a:t>
            </a:r>
          </a:p>
        </p:txBody>
      </p:sp>
      <p:sp>
        <p:nvSpPr>
          <p:cNvPr id="5" name="TextBox 4"/>
          <p:cNvSpPr txBox="1"/>
          <p:nvPr/>
        </p:nvSpPr>
        <p:spPr>
          <a:xfrm>
            <a:off x="731520" y="2560320"/>
            <a:ext cx="10515600" cy="731520"/>
          </a:xfrm>
          <a:prstGeom prst="rect">
            <a:avLst/>
          </a:prstGeom>
          <a:noFill/>
        </p:spPr>
        <p:txBody>
          <a:bodyPr wrap="square">
            <a:spAutoFit/>
          </a:bodyPr>
          <a:lstStyle/>
          <a:p>
            <a:pPr>
              <a:lnSpc>
                <a:spcPts val="2200"/>
              </a:lnSpc>
              <a:defRPr sz="1600">
                <a:solidFill>
                  <a:srgbClr val="1F2A37"/>
                </a:solidFill>
              </a:defRPr>
            </a:pPr>
            <a:r>
              <a:t>Gemini AI is deeply integrated throughout the entire GigSchool user journey, powering three core AI features that differentiate the platform:</a:t>
            </a:r>
          </a:p>
        </p:txBody>
      </p:sp>
      <p:sp>
        <p:nvSpPr>
          <p:cNvPr id="6" name="Rounded Rectangle 5"/>
          <p:cNvSpPr/>
          <p:nvPr/>
        </p:nvSpPr>
        <p:spPr>
          <a:xfrm>
            <a:off x="731520" y="347472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3566160"/>
            <a:ext cx="9875520" cy="731520"/>
          </a:xfrm>
          <a:prstGeom prst="rect">
            <a:avLst/>
          </a:prstGeom>
          <a:noFill/>
        </p:spPr>
        <p:txBody>
          <a:bodyPr wrap="square">
            <a:spAutoFit/>
          </a:bodyPr>
          <a:lstStyle/>
          <a:p>
            <a:r>
              <a:rPr sz="1600" b="1">
                <a:solidFill>
                  <a:srgbClr val="EA580C"/>
                </a:solidFill>
              </a:rPr>
              <a:t>AI Gig Creator:  </a:t>
            </a:r>
            <a:r>
              <a:rPr sz="1400">
                <a:solidFill>
                  <a:srgbClr val="1F2A37"/>
                </a:solidFill>
              </a:rPr>
              <a:t>Auto-generates complete gig listings — title, description, requirements — from a simple natural language prompt</a:t>
            </a:r>
          </a:p>
        </p:txBody>
      </p:sp>
      <p:sp>
        <p:nvSpPr>
          <p:cNvPr id="8" name="Rounded Rectangle 7"/>
          <p:cNvSpPr/>
          <p:nvPr/>
        </p:nvSpPr>
        <p:spPr>
          <a:xfrm>
            <a:off x="731520" y="443484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4526280"/>
            <a:ext cx="9875520" cy="731520"/>
          </a:xfrm>
          <a:prstGeom prst="rect">
            <a:avLst/>
          </a:prstGeom>
          <a:noFill/>
        </p:spPr>
        <p:txBody>
          <a:bodyPr wrap="square">
            <a:spAutoFit/>
          </a:bodyPr>
          <a:lstStyle/>
          <a:p>
            <a:r>
              <a:rPr sz="1600" b="1">
                <a:solidFill>
                  <a:srgbClr val="EA580C"/>
                </a:solidFill>
              </a:rPr>
              <a:t>AI Pitch Writer:  </a:t>
            </a:r>
            <a:r>
              <a:rPr sz="1400">
                <a:solidFill>
                  <a:srgbClr val="1F2A37"/>
                </a:solidFill>
              </a:rPr>
              <a:t>Crafts personalized, compelling application pitches tailored to each gig, helping students stand out</a:t>
            </a:r>
          </a:p>
        </p:txBody>
      </p:sp>
      <p:sp>
        <p:nvSpPr>
          <p:cNvPr id="10" name="Rounded Rectangle 9"/>
          <p:cNvSpPr/>
          <p:nvPr/>
        </p:nvSpPr>
        <p:spPr>
          <a:xfrm>
            <a:off x="731520" y="539496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5486400"/>
            <a:ext cx="9875520" cy="731520"/>
          </a:xfrm>
          <a:prstGeom prst="rect">
            <a:avLst/>
          </a:prstGeom>
          <a:noFill/>
        </p:spPr>
        <p:txBody>
          <a:bodyPr wrap="square">
            <a:spAutoFit/>
          </a:bodyPr>
          <a:lstStyle/>
          <a:p>
            <a:r>
              <a:rPr sz="1600" b="1">
                <a:solidFill>
                  <a:srgbClr val="EA580C"/>
                </a:solidFill>
              </a:rPr>
              <a:t>AI Review Assistant:  </a:t>
            </a:r>
            <a:r>
              <a:rPr sz="1400">
                <a:solidFill>
                  <a:srgbClr val="1F2A37"/>
                </a:solidFill>
              </a:rPr>
              <a:t>Generates thoughtful peer reviews based on the gig experience, maintaining quality feedback across the platform</a:t>
            </a:r>
          </a:p>
        </p:txBody>
      </p:sp>
      <p:sp>
        <p:nvSpPr>
          <p:cNvPr id="12" name="Rectangle 11"/>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Process Flow Diagram</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process_flow_diagram_1773162461223.png"/>
          <p:cNvPicPr>
            <a:picLocks noChangeAspect="1"/>
          </p:cNvPicPr>
          <p:nvPr/>
        </p:nvPicPr>
        <p:blipFill>
          <a:blip r:embed="rId2"/>
          <a:stretch>
            <a:fillRect/>
          </a:stretch>
        </p:blipFill>
        <p:spPr>
          <a:xfrm>
            <a:off x="914400" y="1645920"/>
            <a:ext cx="10058400" cy="4572000"/>
          </a:xfrm>
          <a:prstGeom prst="rect">
            <a:avLst/>
          </a:prstGeom>
        </p:spPr>
      </p:pic>
      <p:sp>
        <p:nvSpPr>
          <p:cNvPr id="5" name="Rectangle 4"/>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Wireframes/Mock diagrams of the proposed solution</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828800" y="2743200"/>
            <a:ext cx="8229600" cy="1371600"/>
          </a:xfrm>
          <a:prstGeom prst="rect">
            <a:avLst/>
          </a:prstGeom>
          <a:noFill/>
        </p:spPr>
        <p:txBody>
          <a:bodyPr wrap="square">
            <a:spAutoFit/>
          </a:bodyPr>
          <a:lstStyle/>
          <a:p>
            <a:pPr algn="ctr">
              <a:defRPr sz="3600" b="1">
                <a:solidFill>
                  <a:srgbClr val="F97316"/>
                </a:solidFill>
              </a:defRPr>
            </a:pPr>
            <a:r>
              <a:t>Live Demo After Presentation</a:t>
            </a:r>
          </a:p>
        </p:txBody>
      </p:sp>
      <p:sp>
        <p:nvSpPr>
          <p:cNvPr id="5" name="TextBox 4"/>
          <p:cNvSpPr txBox="1"/>
          <p:nvPr/>
        </p:nvSpPr>
        <p:spPr>
          <a:xfrm>
            <a:off x="1828800" y="3931920"/>
            <a:ext cx="8229600" cy="731520"/>
          </a:xfrm>
          <a:prstGeom prst="rect">
            <a:avLst/>
          </a:prstGeom>
          <a:noFill/>
        </p:spPr>
        <p:txBody>
          <a:bodyPr wrap="square">
            <a:spAutoFit/>
          </a:bodyPr>
          <a:lstStyle/>
          <a:p>
            <a:pPr algn="ctr">
              <a:defRPr sz="1800">
                <a:solidFill>
                  <a:srgbClr val="6B7280"/>
                </a:solidFill>
              </a:defRPr>
            </a:pPr>
            <a:r>
              <a:t>A fully functional demonstration of GigSchool will be presented live</a:t>
            </a:r>
          </a:p>
        </p:txBody>
      </p:sp>
      <p:sp>
        <p:nvSpPr>
          <p:cNvPr id="6" name="Rectangle 5"/>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Architecture Diagram of the Proposed Solution</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architecture_diagram_1773162763047.png"/>
          <p:cNvPicPr>
            <a:picLocks noChangeAspect="1"/>
          </p:cNvPicPr>
          <p:nvPr/>
        </p:nvPicPr>
        <p:blipFill>
          <a:blip r:embed="rId2"/>
          <a:stretch>
            <a:fillRect/>
          </a:stretch>
        </p:blipFill>
        <p:spPr>
          <a:xfrm>
            <a:off x="914400" y="1645920"/>
            <a:ext cx="10058400" cy="4572000"/>
          </a:xfrm>
          <a:prstGeom prst="rect">
            <a:avLst/>
          </a:prstGeom>
        </p:spPr>
      </p:pic>
      <p:sp>
        <p:nvSpPr>
          <p:cNvPr id="5" name="Rectangle 4"/>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Additional Details / Future Development</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731520" y="164592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97280" y="1737360"/>
            <a:ext cx="9875520" cy="731520"/>
          </a:xfrm>
          <a:prstGeom prst="rect">
            <a:avLst/>
          </a:prstGeom>
          <a:noFill/>
        </p:spPr>
        <p:txBody>
          <a:bodyPr wrap="square">
            <a:spAutoFit/>
          </a:bodyPr>
          <a:lstStyle/>
          <a:p>
            <a:r>
              <a:rPr sz="1600" b="1">
                <a:solidFill>
                  <a:srgbClr val="EA580C"/>
                </a:solidFill>
              </a:rPr>
              <a:t>Campus Analytics Dashboard:  </a:t>
            </a:r>
            <a:r>
              <a:rPr sz="1400">
                <a:solidFill>
                  <a:srgbClr val="1F2A37"/>
                </a:solidFill>
              </a:rPr>
              <a:t>Shows college-wide stats: most in-demand skills, total gigs completed, money earned by students — data the college administration would love</a:t>
            </a:r>
          </a:p>
        </p:txBody>
      </p:sp>
      <p:sp>
        <p:nvSpPr>
          <p:cNvPr id="6" name="Rounded Rectangle 5"/>
          <p:cNvSpPr/>
          <p:nvPr/>
        </p:nvSpPr>
        <p:spPr>
          <a:xfrm>
            <a:off x="731520" y="256032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097280" y="2651760"/>
            <a:ext cx="9875520" cy="731520"/>
          </a:xfrm>
          <a:prstGeom prst="rect">
            <a:avLst/>
          </a:prstGeom>
          <a:noFill/>
        </p:spPr>
        <p:txBody>
          <a:bodyPr wrap="square">
            <a:spAutoFit/>
          </a:bodyPr>
          <a:lstStyle/>
          <a:p>
            <a:r>
              <a:rPr sz="1600" b="1">
                <a:solidFill>
                  <a:srgbClr val="EA580C"/>
                </a:solidFill>
              </a:rPr>
              <a:t>Collaboration Rooms:  </a:t>
            </a:r>
            <a:r>
              <a:rPr sz="1400">
                <a:solidFill>
                  <a:srgbClr val="1F2A37"/>
                </a:solidFill>
              </a:rPr>
              <a:t>Students can team up on bigger gigs together, splitting work and earnings — turning solo freelancing into team projects</a:t>
            </a:r>
          </a:p>
        </p:txBody>
      </p:sp>
      <p:sp>
        <p:nvSpPr>
          <p:cNvPr id="8" name="Rounded Rectangle 7"/>
          <p:cNvSpPr/>
          <p:nvPr/>
        </p:nvSpPr>
        <p:spPr>
          <a:xfrm>
            <a:off x="731520" y="347472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097280" y="3566160"/>
            <a:ext cx="9875520" cy="731520"/>
          </a:xfrm>
          <a:prstGeom prst="rect">
            <a:avLst/>
          </a:prstGeom>
          <a:noFill/>
        </p:spPr>
        <p:txBody>
          <a:bodyPr wrap="square">
            <a:spAutoFit/>
          </a:bodyPr>
          <a:lstStyle/>
          <a:p>
            <a:r>
              <a:rPr sz="1600" b="1">
                <a:solidFill>
                  <a:srgbClr val="EA580C"/>
                </a:solidFill>
              </a:rPr>
              <a:t>AI-Powered Resume Builder:  </a:t>
            </a:r>
            <a:r>
              <a:rPr sz="1400">
                <a:solidFill>
                  <a:srgbClr val="1F2A37"/>
                </a:solidFill>
              </a:rPr>
              <a:t>Automatically generates a professional resume from a student's GigSchool activity — gigs completed, reviews received, portfolio pieces — ready to share with recruiters</a:t>
            </a:r>
          </a:p>
        </p:txBody>
      </p:sp>
      <p:sp>
        <p:nvSpPr>
          <p:cNvPr id="10" name="Rounded Rectangle 9"/>
          <p:cNvSpPr/>
          <p:nvPr/>
        </p:nvSpPr>
        <p:spPr>
          <a:xfrm>
            <a:off x="731520" y="438912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97280" y="4480560"/>
            <a:ext cx="9875520" cy="731520"/>
          </a:xfrm>
          <a:prstGeom prst="rect">
            <a:avLst/>
          </a:prstGeom>
          <a:noFill/>
        </p:spPr>
        <p:txBody>
          <a:bodyPr wrap="square">
            <a:spAutoFit/>
          </a:bodyPr>
          <a:lstStyle/>
          <a:p>
            <a:r>
              <a:rPr sz="1600" b="1">
                <a:solidFill>
                  <a:srgbClr val="EA580C"/>
                </a:solidFill>
              </a:rPr>
              <a:t>Mobile App:  </a:t>
            </a:r>
            <a:r>
              <a:rPr sz="1400">
                <a:solidFill>
                  <a:srgbClr val="1F2A37"/>
                </a:solidFill>
              </a:rPr>
              <a:t>Native Android/iOS app for on-the-go access to gigs and notifications</a:t>
            </a:r>
          </a:p>
        </p:txBody>
      </p:sp>
      <p:sp>
        <p:nvSpPr>
          <p:cNvPr id="12" name="Rounded Rectangle 11"/>
          <p:cNvSpPr/>
          <p:nvPr/>
        </p:nvSpPr>
        <p:spPr>
          <a:xfrm>
            <a:off x="731520" y="5303520"/>
            <a:ext cx="10515600" cy="822960"/>
          </a:xfrm>
          <a:prstGeom prst="roundRect">
            <a:avLst/>
          </a:prstGeom>
          <a:solidFill>
            <a:srgbClr val="FFF7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97280" y="5394960"/>
            <a:ext cx="9875520" cy="731520"/>
          </a:xfrm>
          <a:prstGeom prst="rect">
            <a:avLst/>
          </a:prstGeom>
          <a:noFill/>
        </p:spPr>
        <p:txBody>
          <a:bodyPr wrap="square">
            <a:spAutoFit/>
          </a:bodyPr>
          <a:lstStyle/>
          <a:p>
            <a:r>
              <a:rPr sz="1600" b="1">
                <a:solidFill>
                  <a:srgbClr val="EA580C"/>
                </a:solidFill>
              </a:rPr>
              <a:t>In-App Payments:  </a:t>
            </a:r>
            <a:r>
              <a:rPr sz="1400">
                <a:solidFill>
                  <a:srgbClr val="1F2A37"/>
                </a:solidFill>
              </a:rPr>
              <a:t>Integrated payment system so students can pay for gigs directly through GigSchool, with escrow protection for both parties</a:t>
            </a:r>
          </a:p>
        </p:txBody>
      </p:sp>
      <p:sp>
        <p:nvSpPr>
          <p:cNvPr id="14" name="Rectangle 13"/>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731520" y="548640"/>
            <a:ext cx="10515600" cy="731520"/>
          </a:xfrm>
          <a:prstGeom prst="rect">
            <a:avLst/>
          </a:prstGeom>
          <a:noFill/>
        </p:spPr>
        <p:txBody>
          <a:bodyPr wrap="square">
            <a:spAutoFit/>
          </a:bodyPr>
          <a:lstStyle/>
          <a:p>
            <a:pPr>
              <a:defRPr sz="3200" b="1">
                <a:solidFill>
                  <a:srgbClr val="1F2A37"/>
                </a:solidFill>
              </a:defRPr>
            </a:pPr>
            <a:r>
              <a:t>Provide Links To Your:</a:t>
            </a:r>
          </a:p>
        </p:txBody>
      </p:sp>
      <p:sp>
        <p:nvSpPr>
          <p:cNvPr id="3" name="Rectangle 2"/>
          <p:cNvSpPr/>
          <p:nvPr/>
        </p:nvSpPr>
        <p:spPr>
          <a:xfrm>
            <a:off x="731520" y="1234440"/>
            <a:ext cx="1828800" cy="54864"/>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2286000"/>
            <a:ext cx="9144000" cy="2743200"/>
          </a:xfrm>
          <a:prstGeom prst="rect">
            <a:avLst/>
          </a:prstGeom>
          <a:noFill/>
        </p:spPr>
        <p:txBody>
          <a:bodyPr wrap="square">
            <a:spAutoFit/>
          </a:bodyPr>
          <a:lstStyle/>
          <a:p/>
          <a:p>
            <a:pPr>
              <a:spcAft>
                <a:spcPts val="2000"/>
              </a:spcAft>
              <a:defRPr sz="2200">
                <a:solidFill>
                  <a:srgbClr val="1F2A37"/>
                </a:solidFill>
              </a:defRPr>
            </a:pPr>
            <a:r>
              <a:t>1. GitHub Public Repository</a:t>
            </a:r>
          </a:p>
          <a:p>
            <a:pPr>
              <a:spcAft>
                <a:spcPts val="2000"/>
              </a:spcAft>
              <a:defRPr sz="2200">
                <a:solidFill>
                  <a:srgbClr val="1F2A37"/>
                </a:solidFill>
              </a:defRPr>
            </a:pPr>
            <a:r>
              <a:t>2. Demo Video Link (3 Minutes)</a:t>
            </a:r>
          </a:p>
          <a:p>
            <a:pPr>
              <a:spcAft>
                <a:spcPts val="2000"/>
              </a:spcAft>
              <a:defRPr sz="2200">
                <a:solidFill>
                  <a:srgbClr val="1F2A37"/>
                </a:solidFill>
              </a:defRPr>
            </a:pPr>
            <a:r>
              <a:t>3. MVP Link</a:t>
            </a:r>
          </a:p>
        </p:txBody>
      </p:sp>
      <p:sp>
        <p:nvSpPr>
          <p:cNvPr id="5" name="TextBox 4"/>
          <p:cNvSpPr txBox="1"/>
          <p:nvPr/>
        </p:nvSpPr>
        <p:spPr>
          <a:xfrm>
            <a:off x="1097280" y="5029200"/>
            <a:ext cx="9144000" cy="457200"/>
          </a:xfrm>
          <a:prstGeom prst="rect">
            <a:avLst/>
          </a:prstGeom>
          <a:noFill/>
        </p:spPr>
        <p:txBody>
          <a:bodyPr wrap="none">
            <a:spAutoFit/>
          </a:bodyPr>
          <a:lstStyle/>
          <a:p>
            <a:pPr>
              <a:defRPr sz="1400" i="1">
                <a:solidFill>
                  <a:srgbClr val="6B7280"/>
                </a:solidFill>
              </a:defRPr>
            </a:pPr>
            <a:r>
              <a:t>(Links to be added)</a:t>
            </a:r>
          </a:p>
        </p:txBody>
      </p:sp>
      <p:sp>
        <p:nvSpPr>
          <p:cNvPr id="6" name="Rectangle 5"/>
          <p:cNvSpPr/>
          <p:nvPr/>
        </p:nvSpPr>
        <p:spPr>
          <a:xfrm>
            <a:off x="0" y="6492240"/>
            <a:ext cx="12191695" cy="36576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9731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2011680"/>
            <a:ext cx="8229600" cy="1371600"/>
          </a:xfrm>
          <a:prstGeom prst="rect">
            <a:avLst/>
          </a:prstGeom>
          <a:noFill/>
        </p:spPr>
        <p:txBody>
          <a:bodyPr wrap="none">
            <a:spAutoFit/>
          </a:bodyPr>
          <a:lstStyle/>
          <a:p>
            <a:pPr algn="ctr">
              <a:defRPr sz="6000" b="1">
                <a:solidFill>
                  <a:srgbClr val="FFFFFF"/>
                </a:solidFill>
              </a:defRPr>
            </a:pPr>
            <a:r>
              <a:t>Thank You!</a:t>
            </a:r>
          </a:p>
        </p:txBody>
      </p:sp>
      <p:sp>
        <p:nvSpPr>
          <p:cNvPr id="4" name="TextBox 3"/>
          <p:cNvSpPr txBox="1"/>
          <p:nvPr/>
        </p:nvSpPr>
        <p:spPr>
          <a:xfrm>
            <a:off x="1828800" y="3474720"/>
            <a:ext cx="8229600" cy="914400"/>
          </a:xfrm>
          <a:prstGeom prst="rect">
            <a:avLst/>
          </a:prstGeom>
          <a:noFill/>
        </p:spPr>
        <p:txBody>
          <a:bodyPr wrap="none">
            <a:spAutoFit/>
          </a:bodyPr>
          <a:lstStyle/>
          <a:p>
            <a:pPr algn="ctr">
              <a:defRPr sz="2800">
                <a:solidFill>
                  <a:srgbClr val="FFFFFF"/>
                </a:solidFill>
              </a:defRPr>
            </a:pPr>
            <a:r>
              <a:t>Team COVENANTE</a:t>
            </a:r>
          </a:p>
        </p:txBody>
      </p:sp>
      <p:sp>
        <p:nvSpPr>
          <p:cNvPr id="5" name="TextBox 4"/>
          <p:cNvSpPr txBox="1"/>
          <p:nvPr/>
        </p:nvSpPr>
        <p:spPr>
          <a:xfrm>
            <a:off x="1828800" y="4389120"/>
            <a:ext cx="8229600" cy="731520"/>
          </a:xfrm>
          <a:prstGeom prst="rect">
            <a:avLst/>
          </a:prstGeom>
          <a:noFill/>
        </p:spPr>
        <p:txBody>
          <a:bodyPr wrap="none">
            <a:spAutoFit/>
          </a:bodyPr>
          <a:lstStyle/>
          <a:p>
            <a:pPr algn="ctr">
              <a:defRPr sz="2000">
                <a:solidFill>
                  <a:srgbClr val="FFFFFF"/>
                </a:solidFill>
              </a:defRPr>
            </a:pPr>
            <a:r>
              <a:t>GigSchool — Your Campus, Your Skills, Your Economy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